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DarkShield AI — explainable ML to detect dark patterns in e-commerce UIs. Team of 3, guided by Dr. Sridevi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follows the required report structure: objectives, literature, methodology, novelty, results, conclusion.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concrete objectives spanning data, modelling, explainability, scraping and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canonical dark-pattern categories with their UI form and the harm they cause. India outlawed 13 archetypes in 2023.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pillars of related work: deceptive-UI studies, ML text classification, XAI, and anti-bot evasion.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gaps directly motivate DarkShield's pipeline, granular scoring, and SHAP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Decoupled microservice architecture; the top band is the live execution pipeline from client to SHAP explainer.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Balanced 2,356-sample corpus, 80/20 stratified split, TF-IDF features. Four models from linear to recurrent, all SHAP-explained.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contributions: granular scoring, stealth scraping, dual SHAP, and a full MLOps/full-stack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GRU wins accuracy &amp; F1, SVM wins precision, LR wins ROC-AUC. All &gt;92%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Confusion matrices confirm SVM's low false-positive rate and the recurrent models' high recall.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ROC curves hug the top-left corner; AUC near 0.97 for every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Calibrated granular scoring: clean sites score near zero, real Amazon dark patterns score 68–74%.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stack: FastAPI, React/Vite dashboard, MV3 extension, Docker + GitHub Actions 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video (Loom) and GitHub repository links. Click to open during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contributions summarise the project: MLOps, benchmark, FP fix, XAI, full-stack.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work: multimodal VLMs, real-time DOM tracking, automated regulatory reporting. Key references listed.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with repo and demo links.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oom.com/share/9640b1b56c824ac6a79cc2505f2b6b3e" TargetMode="External"/><Relationship Id="rId2" Type="http://schemas.openxmlformats.org/officeDocument/2006/relationships/hyperlink" Target="https://github.com/LakshyaJain08/DarkShield-AI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LakshyaJain08/DarkShield-AI" TargetMode="External"/><Relationship Id="rId2" Type="http://schemas.openxmlformats.org/officeDocument/2006/relationships/hyperlink" Target="https://www.loom.com/share/9640b1b56c824ac6a79cc2505f2b6b3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548640"/>
            <a:ext cx="914400" cy="914400"/>
          </a:xfrm>
          <a:prstGeom prst="ellipse">
            <a:avLst/>
          </a:prstGeom>
          <a:solidFill>
            <a:srgbClr val="FFA51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1005840"/>
            <a:ext cx="457200" cy="457200"/>
          </a:xfrm>
          <a:prstGeom prst="ellipse">
            <a:avLst/>
          </a:prstGeom>
          <a:solidFill>
            <a:srgbClr val="2EC4A6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A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ML  ·  CONSUMER PROTECTION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4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DarkShield AI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Machine Learning for Detecting Dark Patterns in E-Commerce Interfaces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41248" y="3886200"/>
            <a:ext cx="3840480" cy="0"/>
          </a:xfrm>
          <a:prstGeom prst="line">
            <a:avLst/>
          </a:prstGeom>
          <a:noFill/>
          <a:ln w="25400">
            <a:solidFill>
              <a:srgbClr val="FFA5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420624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05840" y="43159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Rayavarapu Rohan Krishna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6817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23BAI1102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420624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72000" y="43159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Satvik Jindal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46817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23BPS1123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420624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138160" y="43159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Lakshya Jain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46817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23BPS1059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 </a:t>
            </a:r>
            <a:pPr indent="0" marL="0">
              <a:buNone/>
            </a:pPr>
            <a:r>
              <a:rPr lang="en-US" sz="14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Sridevi S, Associate Professor, SCOPE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Assessment 3  ·  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A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Presentation 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0136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A5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project scope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17720" y="180136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A5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5603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0175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&amp; research gaps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160020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58200" y="180136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A5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25603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30175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pipeline &amp; models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417880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A5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937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Aspects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394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DarkShield apart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89120" y="397764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617720" y="417880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A5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4937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5394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&amp; live audits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9600" y="397764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458200" y="417880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A5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06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8458200" y="4937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8458200" y="5394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&amp; next steps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DarkShield AI  ·  Machine Learning (BCSE209L)  ·  VIT Chennai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A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Objectives &amp; Project Scope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evaluate and deploy a robust, explainable, production-ready ML framework for autonomous dark-pattern detection on live web interfaces.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423160"/>
            <a:ext cx="685800" cy="685800"/>
          </a:xfrm>
          <a:prstGeom prst="ellipse">
            <a:avLst/>
          </a:prstGeom>
          <a:solidFill>
            <a:srgbClr val="FFA51F">
              <a:alpha val="15000"/>
            </a:srgbClr>
          </a:solidFill>
          <a:ln w="12700">
            <a:solidFill>
              <a:srgbClr val="FFA5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2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3134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corpus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660904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 clean training set from the ec-darkpattern dataset with strict schema constraints.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92240" y="2148840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20840" y="2423160"/>
            <a:ext cx="685800" cy="685800"/>
          </a:xfrm>
          <a:prstGeom prst="ellipse">
            <a:avLst/>
          </a:prstGeom>
          <a:solidFill>
            <a:srgbClr val="FFA51F">
              <a:alpha val="15000"/>
            </a:srgbClr>
          </a:solidFill>
          <a:ln w="12700">
            <a:solidFill>
              <a:srgbClr val="FFA5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20840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2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23134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pipeline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2660904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ingestion, validation, transformation, 5-fold tuning, evaluation &amp; deployment.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584448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858768"/>
            <a:ext cx="685800" cy="685800"/>
          </a:xfrm>
          <a:prstGeom prst="ellipse">
            <a:avLst/>
          </a:prstGeom>
          <a:solidFill>
            <a:srgbClr val="FFA51F">
              <a:alpha val="15000"/>
            </a:srgbClr>
          </a:solidFill>
          <a:ln w="12700">
            <a:solidFill>
              <a:srgbClr val="FFA5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8587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2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3749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benchmark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409651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4 ML architectures: Logistic Regression, Linear SVM, LSTM and GRU.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92240" y="3584448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0840" y="3858768"/>
            <a:ext cx="685800" cy="685800"/>
          </a:xfrm>
          <a:prstGeom prst="ellipse">
            <a:avLst/>
          </a:prstGeom>
          <a:solidFill>
            <a:srgbClr val="FFA51F">
              <a:alpha val="15000"/>
            </a:srgbClr>
          </a:solidFill>
          <a:ln w="12700">
            <a:solidFill>
              <a:srgbClr val="FFA5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20840" y="38587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2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3749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589520" y="409651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game-theoretic SHAP to highlight exact deceptive tokens in real time.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020056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294376"/>
            <a:ext cx="685800" cy="685800"/>
          </a:xfrm>
          <a:prstGeom prst="ellipse">
            <a:avLst/>
          </a:prstGeom>
          <a:solidFill>
            <a:srgbClr val="FFA51F">
              <a:alpha val="15000"/>
            </a:srgbClr>
          </a:solidFill>
          <a:ln w="12700">
            <a:solidFill>
              <a:srgbClr val="FFA5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29437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2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1645920" y="5184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auditing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645920" y="553212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Dual-stage element-level engine + stealth Playwright scraper to audit live sites.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92240" y="5020056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20840" y="5294376"/>
            <a:ext cx="685800" cy="685800"/>
          </a:xfrm>
          <a:prstGeom prst="ellipse">
            <a:avLst/>
          </a:prstGeom>
          <a:solidFill>
            <a:srgbClr val="FFA51F">
              <a:alpha val="15000"/>
            </a:srgbClr>
          </a:solidFill>
          <a:ln w="12700">
            <a:solidFill>
              <a:srgbClr val="FFA51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20840" y="529437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2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7589520" y="5184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delivery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589520" y="553212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backend, React/Vite dashboard and a Manifest V3 Chrome extension.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DarkShield AI  ·  Machine Learning (BCSE209L)  ·  VIT Chennai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A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Are Dark Patterns?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Deceptive UI/UX that manipulates users into actions against their intent — undermining autonomy and violating FTC, EU DSA and India CCPA/ASCI rules. Regex and heuristic matchers are brittle and false-positive prone.</a:t>
            </a:r>
            <a:endParaRPr lang="en-US" sz="14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389120"/>
                <a:gridCol w="4023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11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 Pattern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A5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11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Manifestation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A5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11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Harm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A51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C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Urgency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Countdown timers, 'Sale ends in 02:14!'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Irrational time pressure → impulse buys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C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Manufactured Scarcity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'Only 1 left!', '18 viewed now'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Exploits scarcity → rushed checkout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27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C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Confirmshaming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'No thanks, I hate saving money'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Emotional guilt for declining offers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C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Sneak into Basket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Pre-ticked warranties, hidden fees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Unauthorized charges at checkout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27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C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Obstruction / Roach Motel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1-click signup vs 7-step cancel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Inflated exit friction, locked billing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DarkShield AI  ·  Machine Learning (BCSE209L)  ·  VIT Chennai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A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Literature Review &amp; Related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0" cy="1508760"/>
          </a:xfrm>
          <a:prstGeom prst="line">
            <a:avLst/>
          </a:prstGeom>
          <a:noFill/>
          <a:ln w="38100">
            <a:solidFill>
              <a:srgbClr val="FFA5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8105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Deceptive UI foundations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3317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Brignull (2010) coined 'dark patterns'. Mathur et al. (2019) crawled 11K shopping sites; Gray et al. (2018) built the UX taxonomy.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92240" y="155448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6560" y="1874520"/>
            <a:ext cx="0" cy="1508760"/>
          </a:xfrm>
          <a:prstGeom prst="line">
            <a:avLst/>
          </a:prstGeom>
          <a:noFill/>
          <a:ln w="38100">
            <a:solidFill>
              <a:srgbClr val="FFA51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0" y="18105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 web text security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3317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TF-IDF classifiers (LR, SVM) and recurrent nets — LSTM (1997), GRU (2014) — capture token dependencies for subtle manipulative phrasing.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251960"/>
            <a:ext cx="0" cy="1508760"/>
          </a:xfrm>
          <a:prstGeom prst="line">
            <a:avLst/>
          </a:prstGeom>
          <a:noFill/>
          <a:ln w="38100">
            <a:solidFill>
              <a:srgbClr val="FFA5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41879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&amp; trust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7091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Lundberg &amp; Lee (2017) SHAP gives axiomatic, game-theoretic token attribution — grounding each detection in observable evidence.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92240" y="393192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4251960"/>
            <a:ext cx="0" cy="1508760"/>
          </a:xfrm>
          <a:prstGeom prst="line">
            <a:avLst/>
          </a:prstGeom>
          <a:noFill/>
          <a:ln w="38100">
            <a:solidFill>
              <a:srgbClr val="FFA5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41879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Anti-scraping evasion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47091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bot walls (Cloudflare, Akamai, Amazon WAF) block vanilla Selenium; stealth fingerprinting is required to audit live product pages.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DarkShield AI  ·  Machine Learning (BCSE209L)  ·  VIT Chennai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A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Identified Research Gaps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End-to-End MLOps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1188720" cy="0"/>
          </a:xfrm>
          <a:prstGeom prst="line">
            <a:avLst/>
          </a:prstGeom>
          <a:noFill/>
          <a:ln w="25400">
            <a:solidFill>
              <a:srgbClr val="FFA5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8404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stops at offline notebooks — no reproducible validation, model pusher, or production serving.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78308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63440" y="2103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560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Whole-Page Aggregation Fallacy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663440" y="3657600"/>
            <a:ext cx="1188720" cy="0"/>
          </a:xfrm>
          <a:prstGeom prst="line">
            <a:avLst/>
          </a:prstGeom>
          <a:noFill/>
          <a:ln w="25400">
            <a:solidFill>
              <a:srgbClr val="FFA5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38404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Concatenating all page text spikes false positives when innocent pages contain words like 'free' or 'deal'.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178308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503920" y="2103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2560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Missing Integrated Explainability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503920" y="3657600"/>
            <a:ext cx="1188720" cy="0"/>
          </a:xfrm>
          <a:prstGeom prst="line">
            <a:avLst/>
          </a:prstGeom>
          <a:noFill/>
          <a:ln w="25400">
            <a:solidFill>
              <a:srgbClr val="FFA5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0" y="38404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extensions give binary flags with no token attribution — users &amp; auditors can't see the rationale.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DarkShield AI  ·  Machine Learning (BCSE209L)  ·  VIT Chennai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A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PROPOSED 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End-to-End 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764792"/>
            <a:ext cx="1280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/ Extension)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901952" y="18288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75688" y="169164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121408" y="1764792"/>
            <a:ext cx="1280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8288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602736" y="169164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648456" y="1764792"/>
            <a:ext cx="1280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Stealth Playwright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56048" y="18288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129784" y="169164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175504" y="1764792"/>
            <a:ext cx="1280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Element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83096" y="18288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656832" y="169164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1F2733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702552" y="1764792"/>
            <a:ext cx="1280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010144" y="18288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183880" y="169164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1F2733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0" y="1764792"/>
            <a:ext cx="1280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537192" y="18288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710928" y="169164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756648" y="1764792"/>
            <a:ext cx="1280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017520"/>
            <a:ext cx="3611880" cy="2651760"/>
          </a:xfrm>
          <a:prstGeom prst="roundRect">
            <a:avLst>
              <a:gd name="adj" fmla="val 3448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3310128"/>
            <a:ext cx="502920" cy="502920"/>
          </a:xfrm>
          <a:prstGeom prst="ellipse">
            <a:avLst/>
          </a:prstGeom>
          <a:solidFill>
            <a:srgbClr val="FFA51F">
              <a:alpha val="18000"/>
            </a:srgbClr>
          </a:solidFill>
          <a:ln w="12700">
            <a:solidFill>
              <a:srgbClr val="FFA5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3931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decoupled tiers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43891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· API gateway · scraping engine · inference &amp; auditing · explainability + registry.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389120" y="3017520"/>
            <a:ext cx="3611880" cy="2651760"/>
          </a:xfrm>
          <a:prstGeom prst="roundRect">
            <a:avLst>
              <a:gd name="adj" fmla="val 3448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310128"/>
            <a:ext cx="502920" cy="502920"/>
          </a:xfrm>
          <a:prstGeom prst="ellipse">
            <a:avLst/>
          </a:prstGeom>
          <a:solidFill>
            <a:srgbClr val="FFA51F">
              <a:alpha val="18000"/>
            </a:srgbClr>
          </a:solidFill>
          <a:ln w="12700">
            <a:solidFill>
              <a:srgbClr val="FFA5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6344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4663440" y="3931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663440" y="43891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request → Playwright hydrates URL → discrete DOM elements → 4-model inference → SHAP attribution → structured JSON.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229600" y="3017520"/>
            <a:ext cx="3611880" cy="2651760"/>
          </a:xfrm>
          <a:prstGeom prst="roundRect">
            <a:avLst>
              <a:gd name="adj" fmla="val 3448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503920" y="3310128"/>
            <a:ext cx="502920" cy="502920"/>
          </a:xfrm>
          <a:prstGeom prst="ellipse">
            <a:avLst/>
          </a:prstGeom>
          <a:solidFill>
            <a:srgbClr val="FFA51F">
              <a:alpha val="18000"/>
            </a:srgbClr>
          </a:solidFill>
          <a:ln w="12700">
            <a:solidFill>
              <a:srgbClr val="FFA51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0392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8503920" y="3931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components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503920" y="43891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modular src/ stages: ingestion, validation, transformation, trainer, evaluation, model pusher → auto-deploy to backend.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DarkShield AI  ·  Machine Learning (BCSE209L)  ·  VIT Chennai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A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Models, Data &amp; Training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00400" cy="4114800"/>
          </a:xfrm>
          <a:prstGeom prst="roundRect">
            <a:avLst>
              <a:gd name="adj" fmla="val 2857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A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ec-darkpattern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2,356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UI snippets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620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1,884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73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(80%) · 5-fold CV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5753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472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986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(20%)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28853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50 / 50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700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classes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0017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5,000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413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n-grams (1–2)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1737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A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FOUR-WAY MODEL BENCHMARK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2148840"/>
          <a:ext cx="75895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30175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11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A5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11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A5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11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Config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A51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C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C=10, lbfgs, L2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C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SVM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Hyperplane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C=1, linear, Platt scaling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27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C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Recurrent DL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hidden=128, 15 epochs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C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Recurrent DL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hidden=32, 3.2× faster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2733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4023360" y="4709160"/>
            <a:ext cx="7589520" cy="960120"/>
          </a:xfrm>
          <a:prstGeom prst="roundRect">
            <a:avLst>
              <a:gd name="adj" fmla="val 9524"/>
            </a:avLst>
          </a:prstGeom>
          <a:solidFill>
            <a:srgbClr val="1F2733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4251960" y="4846320"/>
            <a:ext cx="7178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Train-only vectorization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leakage · stop-words pruned but urgency tokens ('only','left','hurry') preserved ·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E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(LinearExplainer + DeepExplainer) attributes every token.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DarkShield AI  ·  Machine Learning (BCSE209L)  ·  VIT Chennai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A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Novel Aspects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2EC4A6">
              <a:alpha val="20000"/>
            </a:srgbClr>
          </a:solidFill>
          <a:ln w="12700">
            <a:solidFill>
              <a:srgbClr val="2EC4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745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element-level auditing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Dual-stage engine scores discrete 5–30 word UI elements instead of concatenating 50K-char pages — kills false positives, ~100% specificity.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92240" y="160020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0" y="18745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2EC4A6">
              <a:alpha val="20000"/>
            </a:srgbClr>
          </a:solidFill>
          <a:ln w="12700">
            <a:solidFill>
              <a:srgbClr val="2EC4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18745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Stealth Playwright scraper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26517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randomization, webdriver scrubbing &amp; CAPTCHA detection audit live Amazon India pages that block vanilla Selenium.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062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2EC4A6">
              <a:alpha val="20000"/>
            </a:srgbClr>
          </a:solidFill>
          <a:ln w="12700">
            <a:solidFill>
              <a:srgbClr val="2EC4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2062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across linear + deep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83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token attribution over both TF-IDF and recurrent models — amber = deceptive, emerald = benign in the live UI.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92240" y="393192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42062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2EC4A6">
              <a:alpha val="20000"/>
            </a:srgbClr>
          </a:solidFill>
          <a:ln w="12700">
            <a:solidFill>
              <a:srgbClr val="2EC4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6656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42062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MLOps + full-stack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4983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6-stage pipeline with auto model-pusher, FastAPI gateway, React dashboard &amp; Manifest V3 extension.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DarkShield AI  ·  Machine Learning (BCSE209L)  ·  VIT Chennai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A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· RESULTS &amp; DISCUSSION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Comparative Model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6420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A5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94.92%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accuracy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51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0248" y="155448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98848" y="166420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C4A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96.40%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498848" y="2331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precision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2651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false alarms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91856" y="155448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0456" y="166420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2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0.9750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220456" y="2331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ROC-AUC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0456" y="2651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separation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609344"/>
                <a:gridCol w="1609344"/>
                <a:gridCol w="1609344"/>
                <a:gridCol w="1609344"/>
                <a:gridCol w="1609344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E11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A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E11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A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E11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A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E11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A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E11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A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E11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A51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C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92.80%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94.69%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90.68%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92.64%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11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EC4A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C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(Linear)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2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2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11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EC4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90.68%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2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93.45%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2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273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C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94.70%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95.28%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11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94.07%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EC4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94.67%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C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2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11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94.92%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EC4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95.69%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2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94.07%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2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11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94.87%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EC4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2733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cells mark the winning model for each metric · all four models exceed 92% accuracy on 472 unseen samples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DarkShield AI  ·  Machine Learning (BCSE209L)  ·  VIT Chennai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A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·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Confusion Matrices — All Models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343400"/>
          </a:xfrm>
          <a:prstGeom prst="roundRect">
            <a:avLst>
              <a:gd name="adj" fmla="val 2105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7040880" cy="3977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83880" y="1554480"/>
            <a:ext cx="3456432" cy="4343400"/>
          </a:xfrm>
          <a:prstGeom prst="roundRect">
            <a:avLst>
              <a:gd name="adj" fmla="val 2646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412480" y="1783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A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MATRICES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2240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2560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 false positives — 228/236 benign correct.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3383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&amp; LSTM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3703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222/236 dark patterns caught (14 misses each).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4526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dominance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4846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true-positive &amp; true-negative mass across all four.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9893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6.1 — Normalized confusion matrices (472 test samples)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DarkShield AI  ·  Machine Learning (BCSE209L)  ·  VIT Chennai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A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·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ROC Curves &amp; Discrimination Power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343400"/>
          </a:xfrm>
          <a:prstGeom prst="roundRect">
            <a:avLst>
              <a:gd name="adj" fmla="val 2105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6949440" cy="3886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83880" y="1554480"/>
            <a:ext cx="3456432" cy="4343400"/>
          </a:xfrm>
          <a:prstGeom prst="roundRect">
            <a:avLst>
              <a:gd name="adj" fmla="val 2646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412480" y="1783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A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2240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≈ 0.97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25603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cluster far above the 0.50 random-guess diagonal.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3383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Threshold-robust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37033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sensitivity sustained across operating points.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4526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leads AUC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48463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0.9750 — strongest class separation overall.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9893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6.2 — Comparative ROC curves across all four classifiers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DarkShield AI  ·  Machine Learning (BCSE209L)  ·  VIT Chennai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A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· LIVE VALIDATION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Real-World E-Commerce Audits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1737360"/>
                <a:gridCol w="1828800"/>
                <a:gridCol w="274320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E11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 / Product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A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E11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A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E11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 Score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A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E11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A51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python.org (docs)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C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C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clean — 0 FP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example.com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2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2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C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2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C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clean — 0 FP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273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wikipedia.org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C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C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clean — 0 FP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IN — Tata Sampann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2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2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2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Flagged: 'Only 1 left'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273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IN — Lego Icons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Flagged: 'Deal of day'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34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71D2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864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1F2733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55961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0.5% </a:t>
            </a:r>
            <a:pPr indent="0" marL="0">
              <a:buNone/>
            </a:pPr>
            <a:r>
              <a:rPr lang="en-US" sz="14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on informational sites (zero false positives) while </a:t>
            </a:r>
            <a:pPr indent="0" marL="0">
              <a:buNone/>
            </a:pPr>
            <a:r>
              <a:rPr lang="en-US" sz="145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precisely flagging </a:t>
            </a:r>
            <a:pPr indent="0" marL="0">
              <a:buNone/>
            </a:pPr>
            <a:r>
              <a:rPr lang="en-US" sz="145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deceptive cues on live Amazon India listings.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DarkShield AI  ·  Machine Learning (BCSE209L)  ·  VIT Chennai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A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Software Implementation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86968" y="2423160"/>
            <a:ext cx="1097280" cy="0"/>
          </a:xfrm>
          <a:prstGeom prst="line">
            <a:avLst/>
          </a:prstGeom>
          <a:noFill/>
          <a:ln w="25400">
            <a:solidFill>
              <a:srgbClr val="FFA5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5603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microservice, 4 REST endpoints (/analyze, /scrape, /explain/shap), Swagger docs.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92240" y="160020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1228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Amber Dashboard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30568" y="2423160"/>
            <a:ext cx="1097280" cy="0"/>
          </a:xfrm>
          <a:prstGeom prst="line">
            <a:avLst/>
          </a:prstGeom>
          <a:noFill/>
          <a:ln w="25400">
            <a:solidFill>
              <a:srgbClr val="FFA5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12280" y="25603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Vite: live multi-model charts, deceptive-cue inspector, SHAP token heatmaps.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8680" y="4206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Extension (MV3)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86968" y="4754880"/>
            <a:ext cx="1097280" cy="0"/>
          </a:xfrm>
          <a:prstGeom prst="line">
            <a:avLst/>
          </a:prstGeom>
          <a:noFill/>
          <a:ln w="25400">
            <a:solidFill>
              <a:srgbClr val="FFA5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892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captures active-tab DOM, injects on-page overlays highlighting dark patterns.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92240" y="393192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12280" y="4206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CI/CD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30568" y="4754880"/>
            <a:ext cx="1097280" cy="0"/>
          </a:xfrm>
          <a:prstGeom prst="line">
            <a:avLst/>
          </a:prstGeom>
          <a:noFill/>
          <a:ln w="25400">
            <a:solidFill>
              <a:srgbClr val="FFA5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4892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Python 3.10 + Playwright; GitHub Actions runs schema checks &amp; pytest on every push.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DarkShield AI  ·  Machine Learning (BCSE209L)  ·  VIT Chennai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A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058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Live Demo &amp; Source Code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10515600" cy="1828800"/>
          </a:xfrm>
          <a:prstGeom prst="roundRect">
            <a:avLst>
              <a:gd name="adj" fmla="val 5000"/>
            </a:avLst>
          </a:prstGeom>
          <a:solidFill>
            <a:srgbClr val="1F2733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606040"/>
            <a:ext cx="1005840" cy="1005840"/>
          </a:xfrm>
          <a:prstGeom prst="ellipse">
            <a:avLst/>
          </a:prstGeom>
          <a:solidFill>
            <a:srgbClr val="F96167">
              <a:alpha val="20000"/>
            </a:srgbClr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2606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2468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/ Software Demo Video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29077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1.5–2 min walkthrough: live Amazon audit, SHAP token highlighting &amp; the Chrome extension overlay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336499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loom.com/share/9640b1b56c824ac6a79cc2505f2b6b3e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4206240"/>
            <a:ext cx="10515600" cy="1600200"/>
          </a:xfrm>
          <a:prstGeom prst="roundRect">
            <a:avLst>
              <a:gd name="adj" fmla="val 5714"/>
            </a:avLst>
          </a:prstGeom>
          <a:solidFill>
            <a:srgbClr val="1F2733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88720" y="452628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2EC4A6">
              <a:alpha val="20000"/>
            </a:srgbClr>
          </a:solidFill>
          <a:ln w="19050">
            <a:solidFill>
              <a:srgbClr val="2EC4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88720" y="4526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440740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4846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source: MLOps pipeline, backend, React dashboard, Chrome extension &amp; trained models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5248656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github.com/LakshyaJain08/DarkShield-AI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DarkShield AI  ·  Machine Learning (BCSE209L)  ·  VIT Chennai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A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1F2733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64792"/>
            <a:ext cx="411480" cy="411480"/>
          </a:xfrm>
          <a:prstGeom prst="ellipse">
            <a:avLst/>
          </a:prstGeom>
          <a:solidFill>
            <a:srgbClr val="FFA51F">
              <a:alpha val="20000"/>
            </a:srgbClr>
          </a:solidFill>
          <a:ln w="12700">
            <a:solidFill>
              <a:srgbClr val="FFA5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6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0020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MLOps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00200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pipeline: validation → training → evaluation → auto model registry.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606040"/>
            <a:ext cx="411480" cy="411480"/>
          </a:xfrm>
          <a:prstGeom prst="ellipse">
            <a:avLst/>
          </a:prstGeom>
          <a:solidFill>
            <a:srgbClr val="FFA51F">
              <a:alpha val="20000"/>
            </a:srgbClr>
          </a:solidFill>
          <a:ln w="12700">
            <a:solidFill>
              <a:srgbClr val="FFA5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441448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rigor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441448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4-paradigm benchmark: GRU 94.92% accuracy, SVM 96.40% precision.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1F2733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447288"/>
            <a:ext cx="411480" cy="411480"/>
          </a:xfrm>
          <a:prstGeom prst="ellipse">
            <a:avLst/>
          </a:prstGeom>
          <a:solidFill>
            <a:srgbClr val="FFA51F">
              <a:alpha val="20000"/>
            </a:srgbClr>
          </a:solidFill>
          <a:ln w="12700">
            <a:solidFill>
              <a:srgbClr val="FFA5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447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282696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fix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282696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granular element-level auditing + stealth crawler.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123944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288536"/>
            <a:ext cx="411480" cy="411480"/>
          </a:xfrm>
          <a:prstGeom prst="ellipse">
            <a:avLst/>
          </a:prstGeom>
          <a:solidFill>
            <a:srgbClr val="FFA51F">
              <a:alpha val="20000"/>
            </a:srgbClr>
          </a:solidFill>
          <a:ln w="12700">
            <a:solidFill>
              <a:srgbClr val="FFA5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288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123944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4123944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across all models exposes exact deceptive tokens.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965192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1F2733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5129784"/>
            <a:ext cx="411480" cy="411480"/>
          </a:xfrm>
          <a:prstGeom prst="ellipse">
            <a:avLst/>
          </a:prstGeom>
          <a:solidFill>
            <a:srgbClr val="FFA51F">
              <a:alpha val="20000"/>
            </a:srgbClr>
          </a:solidFill>
          <a:ln w="12700">
            <a:solidFill>
              <a:srgbClr val="FFA5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129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4965192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delivery</a:t>
            </a:r>
            <a:endParaRPr lang="en-US" sz="165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4965192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React/Vite dashboard + Manifest V3 extension.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DarkShield AI  ·  Machine Learning (BCSE209L)  ·  VIT Chennai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A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Future Scope &amp; Key References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A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2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194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VLMs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56032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LayoutLM + CLIP to fuse text, bounding boxes &amp; colour-contrast for visual-interference patterns.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2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383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DOM mutation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7490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MutationObserver to catch ephemeral popups &amp; JS countdown animations.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2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572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reporting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93776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compliance audit reports for FTC / CCPA submission.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155448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171D27"/>
          </a:solidFill>
          <a:ln w="12700">
            <a:solidFill>
              <a:srgbClr val="2B34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537960" y="1737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A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REFERENCES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19456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Brignull, H. — Dark Patterns: Deception vs Honesty in UI (2010).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Mathur et al. — Dark Patterns at Scale: 11K Shopping Sites, ACM CSCW (2019).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et al. — The Dark (Patterns) Side of UX Design, CHI (2018).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Lundberg &amp; Lee — A Unified Approach to Interpreting Model Predictions (SHAP), NeurIPS (2017).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Hochreiter &amp; Schmidhuber — Long Short-Term Memory, Neural Comp. (1997).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et al. — GRU: Encoder-Decoder Approaches, SSST-8 (2014).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FTC — Bringing Dark Patterns to Light, Staff Report (2022).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CCPA India — Guidelines for Prevention of Dark Patterns (2023).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5486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22-reference list in the project report (IEEE format)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DarkShield AI  ·  Machine Learning (BCSE209L)  ·  VIT Chennai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41848" y="914400"/>
            <a:ext cx="914400" cy="914400"/>
          </a:xfrm>
          <a:prstGeom prst="ellipse">
            <a:avLst/>
          </a:prstGeom>
          <a:solidFill>
            <a:srgbClr val="FFA51F">
              <a:alpha val="1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41848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3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4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291840"/>
            <a:ext cx="9628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DarkShield AI — making deceptive design visible, explainable and accountable.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062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github.com/LakshyaJain08/DarkShield-AI</a:t>
            </a:r>
            <a:pPr algn="ctr" indent="0" marL="0">
              <a:buNone/>
            </a:pPr>
            <a:r>
              <a:rPr lang="en-US" sz="1500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</a:t>
            </a:r>
            <a:pPr algn="ctr" indent="0" marL="0">
              <a:buNone/>
            </a:pPr>
            <a:r>
              <a:rPr lang="en-US" sz="1500" b="1" u="sng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 the demo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463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B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2026-10-15T16:59:25Z</dcterms:created>
  <dcterms:modified xsi:type="dcterms:W3CDTF">2026-10-15T16:59:25Z</dcterms:modified>
</cp:coreProperties>
</file>